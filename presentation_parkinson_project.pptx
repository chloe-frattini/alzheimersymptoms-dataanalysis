
<file path=[Content_Types].xml><?xml version="1.0" encoding="utf-8"?>
<Types xmlns="http://schemas.openxmlformats.org/package/2006/content-types">
  <Default Extension="fntdata" ContentType="application/x-fontdata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0eccade9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0eccade9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0f0f11aa4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0f0f11aa4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0eccade9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0eccade9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0f0f11aa4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0f0f11aa4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0f0f11aa4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0f0f11aa4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0f0f11aa4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0f0f11aa4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0eccade92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0eccade92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0f0f11aa4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0f0f11aa4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8.wav"/><Relationship Id="rId1" Type="http://schemas.microsoft.com/office/2007/relationships/media" Target="../media/media8.wav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9.wav"/><Relationship Id="rId1" Type="http://schemas.microsoft.com/office/2007/relationships/media" Target="../media/media9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311700" y="873579"/>
            <a:ext cx="8520600" cy="26428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000" b="1" dirty="0"/>
              <a:t>Prédiction de la sévérité des symptômes moteurs dans la maladie de Parkinson à partir de variables cliniques, neuro anatomiques et métaboliques</a:t>
            </a:r>
            <a:endParaRPr sz="6200" dirty="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460938" y="3779488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Frattini Chloé et Tremblay Raphael </a:t>
            </a:r>
            <a:endParaRPr/>
          </a:p>
        </p:txBody>
      </p:sp>
      <p:pic>
        <p:nvPicPr>
          <p:cNvPr id="2" name="diapo_1_projet">
            <a:hlinkClick r:id="" action="ppaction://media"/>
            <a:extLst>
              <a:ext uri="{FF2B5EF4-FFF2-40B4-BE49-F238E27FC236}">
                <a16:creationId xmlns:a16="http://schemas.microsoft.com/office/drawing/2014/main" id="{9E7E2299-3A41-E3F7-8E3E-292E7B4ADD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7738" y="172357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69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3388325" y="287950"/>
            <a:ext cx="2144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Introduction </a:t>
            </a:r>
            <a:endParaRPr u="sng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5027250" y="1017800"/>
            <a:ext cx="4116900" cy="2916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969"/>
              <a:t>Symptômes moteurs : </a:t>
            </a:r>
            <a:endParaRPr sz="2969"/>
          </a:p>
          <a:p>
            <a:pPr marL="457200" lvl="0" indent="-360555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 sz="2969"/>
              <a:t>tremblements</a:t>
            </a:r>
            <a:endParaRPr sz="2969"/>
          </a:p>
          <a:p>
            <a:pPr marL="914400" lvl="0" indent="-3605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 sz="2969"/>
              <a:t>rigidité</a:t>
            </a:r>
            <a:endParaRPr sz="2969"/>
          </a:p>
          <a:p>
            <a:pPr marL="914400" lvl="0" indent="-3605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 sz="2969"/>
              <a:t>bradykinésie </a:t>
            </a:r>
            <a:endParaRPr sz="2969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4006" b="1"/>
              <a:t>Sévérité variable selon les patients</a:t>
            </a:r>
            <a:r>
              <a:rPr lang="fr" sz="3206" b="1"/>
              <a:t> </a:t>
            </a:r>
            <a:endParaRPr sz="3206" b="1"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525" y="1017798"/>
            <a:ext cx="4401600" cy="367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diapo_2_projet">
            <a:hlinkClick r:id="" action="ppaction://media"/>
            <a:extLst>
              <a:ext uri="{FF2B5EF4-FFF2-40B4-BE49-F238E27FC236}">
                <a16:creationId xmlns:a16="http://schemas.microsoft.com/office/drawing/2014/main" id="{5C76BD84-9A28-1B42-1136-A778D17F64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1525" y="251628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71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3316650" y="410000"/>
            <a:ext cx="2510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Problématique</a:t>
            </a:r>
            <a:endParaRPr u="sng"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311700" y="1755175"/>
            <a:ext cx="8520600" cy="21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2900" b="1"/>
              <a:t>Dans quelle mesure les variables cliniques, neuroanatomiques et métaboliques sont-elles associées à la sévérité des symptômes moteurs ? </a:t>
            </a:r>
            <a:r>
              <a:rPr lang="fr" sz="2900"/>
              <a:t> </a:t>
            </a:r>
            <a:endParaRPr sz="2900"/>
          </a:p>
        </p:txBody>
      </p:sp>
      <p:pic>
        <p:nvPicPr>
          <p:cNvPr id="2" name="diapo_3_projet">
            <a:hlinkClick r:id="" action="ppaction://media"/>
            <a:extLst>
              <a:ext uri="{FF2B5EF4-FFF2-40B4-BE49-F238E27FC236}">
                <a16:creationId xmlns:a16="http://schemas.microsoft.com/office/drawing/2014/main" id="{8AE1EDE0-E121-E766-3E63-39FF9A0132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6400" y="227625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5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3632425" y="410000"/>
            <a:ext cx="15690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Données</a:t>
            </a:r>
            <a:endParaRPr u="sng"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311700" y="1017800"/>
            <a:ext cx="85206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120 patients simulés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Variable principale : Score moteur UPDRS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 flipH="1">
            <a:off x="6547975" y="410000"/>
            <a:ext cx="27510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	 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	 	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16" title="Capture d'écran 2026-05-11 23461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050" y="1910113"/>
            <a:ext cx="746760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diapo_4_projet">
            <a:hlinkClick r:id="" action="ppaction://media"/>
            <a:extLst>
              <a:ext uri="{FF2B5EF4-FFF2-40B4-BE49-F238E27FC236}">
                <a16:creationId xmlns:a16="http://schemas.microsoft.com/office/drawing/2014/main" id="{B41E34DD-E358-F3FA-7ACF-A50D7678C0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50925" y="419588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75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Méthode statistiques</a:t>
            </a:r>
            <a:endParaRPr u="sng"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1007100" y="1266700"/>
            <a:ext cx="71298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Analyse descriptive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Tableaux de fréquence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Test t de Welch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Test de corrélation de Pearson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ANOVA de variance à 1 facteur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Régression linéaire multiple</a:t>
            </a:r>
            <a:endParaRPr sz="2400"/>
          </a:p>
        </p:txBody>
      </p:sp>
      <p:pic>
        <p:nvPicPr>
          <p:cNvPr id="2" name="Diapo_5_Projet">
            <a:hlinkClick r:id="" action="ppaction://media"/>
            <a:extLst>
              <a:ext uri="{FF2B5EF4-FFF2-40B4-BE49-F238E27FC236}">
                <a16:creationId xmlns:a16="http://schemas.microsoft.com/office/drawing/2014/main" id="{3D9BBCB8-1A1F-4FB4-77AD-6C64F21ACA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33700" y="235114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86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Résultats clés</a:t>
            </a:r>
            <a:endParaRPr u="sng"/>
          </a:p>
        </p:txBody>
      </p:sp>
      <p:sp>
        <p:nvSpPr>
          <p:cNvPr id="124" name="Google Shape;124;p18"/>
          <p:cNvSpPr txBox="1">
            <a:spLocks noGrp="1"/>
          </p:cNvSpPr>
          <p:nvPr>
            <p:ph type="body" idx="1"/>
          </p:nvPr>
        </p:nvSpPr>
        <p:spPr>
          <a:xfrm>
            <a:off x="311700" y="1298250"/>
            <a:ext cx="8832300" cy="25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Âge et quantité de sérine corrélés positivement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Dépression influence les symptômes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Substance noire et noyau caudé corrélés négativement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R² ajusté de la régression linéaire multiple = 0,21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" name="Diapo_6_Projet">
            <a:hlinkClick r:id="" action="ppaction://media"/>
            <a:extLst>
              <a:ext uri="{FF2B5EF4-FFF2-40B4-BE49-F238E27FC236}">
                <a16:creationId xmlns:a16="http://schemas.microsoft.com/office/drawing/2014/main" id="{8F2B5683-0BCA-5C7D-0713-872F831CBF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536543" y="30750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30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Résultats clés : Score UPDRS selon la dépression </a:t>
            </a:r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229875"/>
            <a:ext cx="8132950" cy="365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diapo_7_projet">
            <a:hlinkClick r:id="" action="ppaction://media"/>
            <a:extLst>
              <a:ext uri="{FF2B5EF4-FFF2-40B4-BE49-F238E27FC236}">
                <a16:creationId xmlns:a16="http://schemas.microsoft.com/office/drawing/2014/main" id="{7C6AB746-24E3-D868-758B-9E6CFAF9CB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08043" y="331993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0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>
            <a:spLocks noGrp="1"/>
          </p:cNvSpPr>
          <p:nvPr>
            <p:ph type="title"/>
          </p:nvPr>
        </p:nvSpPr>
        <p:spPr>
          <a:xfrm>
            <a:off x="311700" y="168550"/>
            <a:ext cx="8520600" cy="8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Résultats clés : Score UPDRS selon le volume de substance noire</a:t>
            </a:r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229875"/>
            <a:ext cx="7993451" cy="36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Diapo_8_Projet">
            <a:hlinkClick r:id="" action="ppaction://media"/>
            <a:extLst>
              <a:ext uri="{FF2B5EF4-FFF2-40B4-BE49-F238E27FC236}">
                <a16:creationId xmlns:a16="http://schemas.microsoft.com/office/drawing/2014/main" id="{E7A51776-0850-CDE4-2544-2ECE65015A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985578" y="18680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21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Discussion et conclusion</a:t>
            </a:r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body" idx="1"/>
          </p:nvPr>
        </p:nvSpPr>
        <p:spPr>
          <a:xfrm>
            <a:off x="311700" y="1017800"/>
            <a:ext cx="8520600" cy="4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Données simulées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Existence de biais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Analyses statistiques limitées 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Modèle de régression linéaire limité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400"/>
              <a:t>=&gt; Âge, volumes cérébraux, dépression statistiquement associés au score UPDRS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400"/>
              <a:t>=&gt; Modèle a une capacité explicative limitée </a:t>
            </a:r>
            <a:endParaRPr sz="24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" name="Diapo_9_Projet">
            <a:hlinkClick r:id="" action="ppaction://media"/>
            <a:extLst>
              <a:ext uri="{FF2B5EF4-FFF2-40B4-BE49-F238E27FC236}">
                <a16:creationId xmlns:a16="http://schemas.microsoft.com/office/drawing/2014/main" id="{6D07F69C-0E56-5FD0-1B52-E6E90BDD49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50843" y="450821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44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Affichage à l'écran (16:9)</PresentationFormat>
  <Paragraphs>37</Paragraphs>
  <Slides>9</Slides>
  <Notes>9</Notes>
  <HiddenSlides>0</HiddenSlides>
  <MMClips>9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Roboto</vt:lpstr>
      <vt:lpstr>Geometric</vt:lpstr>
      <vt:lpstr>Prédiction de la sévérité des symptômes moteurs dans la maladie de Parkinson à partir de variables cliniques, neuro anatomiques et métaboliques</vt:lpstr>
      <vt:lpstr>Introduction </vt:lpstr>
      <vt:lpstr>Problématique</vt:lpstr>
      <vt:lpstr>Données</vt:lpstr>
      <vt:lpstr>Méthode statistiques</vt:lpstr>
      <vt:lpstr>Résultats clés</vt:lpstr>
      <vt:lpstr>Résultats clés : Score UPDRS selon la dépression </vt:lpstr>
      <vt:lpstr>Résultats clés : Score UPDRS selon le volume de substance noire</vt:lpstr>
      <vt:lpstr>Discussion et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Chloe Frattini</cp:lastModifiedBy>
  <cp:revision>2</cp:revision>
  <dcterms:modified xsi:type="dcterms:W3CDTF">2026-05-12T08:07:32Z</dcterms:modified>
</cp:coreProperties>
</file>